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258" r:id="rId4"/>
    <p:sldId id="259" r:id="rId5"/>
    <p:sldId id="260" r:id="rId6"/>
    <p:sldId id="261" r:id="rId7"/>
    <p:sldId id="264" r:id="rId8"/>
    <p:sldId id="265"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40" d="100"/>
          <a:sy n="140" d="100"/>
        </p:scale>
        <p:origin x="144"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736193-EDE3-4BB5-AE5F-E6E5472AB8B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968472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736193-EDE3-4BB5-AE5F-E6E5472AB8B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40306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736193-EDE3-4BB5-AE5F-E6E5472AB8B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680623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736193-EDE3-4BB5-AE5F-E6E5472AB8BE}"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183933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736193-EDE3-4BB5-AE5F-E6E5472AB8BE}"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71997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736193-EDE3-4BB5-AE5F-E6E5472AB8BE}"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022105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736193-EDE3-4BB5-AE5F-E6E5472AB8BE}"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885434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736193-EDE3-4BB5-AE5F-E6E5472AB8BE}"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4105483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736193-EDE3-4BB5-AE5F-E6E5472AB8BE}"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431016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736193-EDE3-4BB5-AE5F-E6E5472AB8B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276173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736193-EDE3-4BB5-AE5F-E6E5472AB8BE}"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345222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E7736193-EDE3-4BB5-AE5F-E6E5472AB8BE}" type="datetimeFigureOut">
              <a:rPr lang="en-US" smtClean="0"/>
              <a:t>1/21/2025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1CC2C9B9-B4B7-45CC-A7EB-16F8BADE9045}" type="slidenum">
              <a:rPr lang="en-US" smtClean="0"/>
              <a:t>‹#›</a:t>
            </a:fld>
            <a:endParaRPr lang="en-US"/>
          </a:p>
        </p:txBody>
      </p:sp>
    </p:spTree>
    <p:extLst>
      <p:ext uri="{BB962C8B-B14F-4D97-AF65-F5344CB8AC3E}">
        <p14:creationId xmlns:p14="http://schemas.microsoft.com/office/powerpoint/2010/main" val="1889051635"/>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9267F3-6F0B-5D68-4B0B-EB52C0129EAC}"/>
              </a:ext>
            </a:extLst>
          </p:cNvPr>
          <p:cNvSpPr>
            <a:spLocks noGrp="1"/>
          </p:cNvSpPr>
          <p:nvPr>
            <p:ph type="ctrTitle"/>
          </p:nvPr>
        </p:nvSpPr>
        <p:spPr/>
        <p:txBody>
          <a:bodyPr>
            <a:normAutofit/>
          </a:bodyPr>
          <a:lstStyle/>
          <a:p>
            <a:r>
              <a:rPr lang="en-US" sz="4000" dirty="0"/>
              <a:t>ECE333: </a:t>
            </a:r>
            <a:r>
              <a:rPr lang="el-GR" sz="4000" dirty="0"/>
              <a:t>Εργαστήριο Ψηφιακών Συστημάτων</a:t>
            </a:r>
            <a:br>
              <a:rPr lang="en-US" sz="4000" dirty="0"/>
            </a:br>
            <a:br>
              <a:rPr lang="el-GR" sz="4000" dirty="0"/>
            </a:br>
            <a:r>
              <a:rPr lang="en-US" sz="4000" dirty="0"/>
              <a:t>Lab 4 – ADXL362 Accelerometer Driver</a:t>
            </a:r>
          </a:p>
        </p:txBody>
      </p:sp>
      <p:sp>
        <p:nvSpPr>
          <p:cNvPr id="2" name="Subtitle 1">
            <a:extLst>
              <a:ext uri="{FF2B5EF4-FFF2-40B4-BE49-F238E27FC236}">
                <a16:creationId xmlns:a16="http://schemas.microsoft.com/office/drawing/2014/main" id="{BE33D657-9207-9A8A-794C-C2E3BC71BC48}"/>
              </a:ext>
            </a:extLst>
          </p:cNvPr>
          <p:cNvSpPr>
            <a:spLocks noGrp="1"/>
          </p:cNvSpPr>
          <p:nvPr>
            <p:ph type="subTitle" idx="1"/>
          </p:nvPr>
        </p:nvSpPr>
        <p:spPr/>
        <p:txBody>
          <a:bodyPr/>
          <a:lstStyle/>
          <a:p>
            <a:r>
              <a:rPr lang="el-GR" dirty="0"/>
              <a:t>Νίκας Ιάσων</a:t>
            </a:r>
            <a:endParaRPr lang="en-US" dirty="0"/>
          </a:p>
        </p:txBody>
      </p:sp>
    </p:spTree>
    <p:extLst>
      <p:ext uri="{BB962C8B-B14F-4D97-AF65-F5344CB8AC3E}">
        <p14:creationId xmlns:p14="http://schemas.microsoft.com/office/powerpoint/2010/main" val="3654424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886E1-93F1-0D41-1D6A-C5CDF761F4E1}"/>
              </a:ext>
            </a:extLst>
          </p:cNvPr>
          <p:cNvSpPr>
            <a:spLocks noGrp="1"/>
          </p:cNvSpPr>
          <p:nvPr>
            <p:ph type="title"/>
          </p:nvPr>
        </p:nvSpPr>
        <p:spPr>
          <a:xfrm>
            <a:off x="838200" y="2766218"/>
            <a:ext cx="10515600" cy="1325563"/>
          </a:xfrm>
        </p:spPr>
        <p:txBody>
          <a:bodyPr/>
          <a:lstStyle/>
          <a:p>
            <a:pPr algn="ctr"/>
            <a:r>
              <a:rPr lang="el-GR" dirty="0"/>
              <a:t>Μέρος Α –</a:t>
            </a:r>
            <a:r>
              <a:rPr lang="en-US" dirty="0"/>
              <a:t> Binary to ASCII converter</a:t>
            </a:r>
          </a:p>
        </p:txBody>
      </p:sp>
    </p:spTree>
    <p:extLst>
      <p:ext uri="{BB962C8B-B14F-4D97-AF65-F5344CB8AC3E}">
        <p14:creationId xmlns:p14="http://schemas.microsoft.com/office/powerpoint/2010/main" val="4018881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65CD3-36A5-10F8-0195-5E6F32C609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183BE9-2CD4-3DF3-5999-A91314703F8C}"/>
              </a:ext>
            </a:extLst>
          </p:cNvPr>
          <p:cNvSpPr>
            <a:spLocks noGrp="1"/>
          </p:cNvSpPr>
          <p:nvPr>
            <p:ph type="title"/>
          </p:nvPr>
        </p:nvSpPr>
        <p:spPr/>
        <p:txBody>
          <a:bodyPr/>
          <a:lstStyle/>
          <a:p>
            <a:r>
              <a:rPr lang="el-GR" dirty="0"/>
              <a:t>Μέρος Α – Περιγραφή</a:t>
            </a:r>
            <a:endParaRPr lang="en-US" dirty="0"/>
          </a:p>
        </p:txBody>
      </p:sp>
      <p:sp>
        <p:nvSpPr>
          <p:cNvPr id="5" name="TextBox 4">
            <a:extLst>
              <a:ext uri="{FF2B5EF4-FFF2-40B4-BE49-F238E27FC236}">
                <a16:creationId xmlns:a16="http://schemas.microsoft.com/office/drawing/2014/main" id="{68343597-B7F8-1E05-213B-F01BF789420E}"/>
              </a:ext>
            </a:extLst>
          </p:cNvPr>
          <p:cNvSpPr txBox="1"/>
          <p:nvPr/>
        </p:nvSpPr>
        <p:spPr>
          <a:xfrm>
            <a:off x="933451" y="1690688"/>
            <a:ext cx="10420350" cy="2308324"/>
          </a:xfrm>
          <a:prstGeom prst="rect">
            <a:avLst/>
          </a:prstGeom>
          <a:noFill/>
        </p:spPr>
        <p:txBody>
          <a:bodyPr wrap="square" rtlCol="0">
            <a:spAutoFit/>
          </a:bodyPr>
          <a:lstStyle/>
          <a:p>
            <a:r>
              <a:rPr lang="el-GR" dirty="0"/>
              <a:t>Για την υλοποίηση του μετατροπέα χρησιμοποιήθηκε μια </a:t>
            </a:r>
            <a:r>
              <a:rPr lang="en-US" dirty="0"/>
              <a:t>FSM </a:t>
            </a:r>
            <a:r>
              <a:rPr lang="el-GR" dirty="0"/>
              <a:t>η οποία δέχεται 1 τιμή σε </a:t>
            </a:r>
            <a:r>
              <a:rPr lang="en-US" dirty="0"/>
              <a:t>binary (12 </a:t>
            </a:r>
            <a:r>
              <a:rPr lang="el-GR" dirty="0"/>
              <a:t>και </a:t>
            </a:r>
            <a:r>
              <a:rPr lang="en-US" dirty="0"/>
              <a:t>19 bits)</a:t>
            </a:r>
            <a:r>
              <a:rPr lang="el-GR" dirty="0"/>
              <a:t>, βρίσκει το πρόσημο του και κάνει μετατροπή της απόλυτης τιμής του αριθμού σε </a:t>
            </a:r>
            <a:r>
              <a:rPr lang="en-US" dirty="0"/>
              <a:t>BCD </a:t>
            </a:r>
            <a:r>
              <a:rPr lang="el-GR" dirty="0"/>
              <a:t>κωδικοποίηση (4 και 6 ψηφία) χρησιμοποιώντας τον αλγόριθμο </a:t>
            </a:r>
            <a:r>
              <a:rPr lang="en-US" dirty="0"/>
              <a:t>Double dabble. </a:t>
            </a:r>
            <a:r>
              <a:rPr lang="el-GR" dirty="0"/>
              <a:t>Για να ολοκληρωθεί ο αλγόριθμος χρειάζεται </a:t>
            </a:r>
            <a:r>
              <a:rPr lang="en-US" dirty="0"/>
              <a:t>2(n-1) </a:t>
            </a:r>
            <a:r>
              <a:rPr lang="el-GR" dirty="0"/>
              <a:t>κύκλους, όπου </a:t>
            </a:r>
            <a:r>
              <a:rPr lang="en-US" dirty="0"/>
              <a:t>n </a:t>
            </a:r>
            <a:r>
              <a:rPr lang="el-GR" dirty="0"/>
              <a:t>τα </a:t>
            </a:r>
            <a:r>
              <a:rPr lang="en-US" dirty="0"/>
              <a:t>bits </a:t>
            </a:r>
            <a:r>
              <a:rPr lang="el-GR" dirty="0"/>
              <a:t>του αρχικού </a:t>
            </a:r>
            <a:r>
              <a:rPr lang="en-US" dirty="0"/>
              <a:t>binary </a:t>
            </a:r>
            <a:r>
              <a:rPr lang="el-GR" dirty="0"/>
              <a:t>αριθμού. </a:t>
            </a:r>
            <a:endParaRPr lang="en-US" dirty="0"/>
          </a:p>
          <a:p>
            <a:endParaRPr lang="en-US" dirty="0"/>
          </a:p>
          <a:p>
            <a:r>
              <a:rPr lang="el-GR" dirty="0"/>
              <a:t>Έπειτα τα ψηφία σε</a:t>
            </a:r>
            <a:r>
              <a:rPr lang="en-US" dirty="0"/>
              <a:t> BCD </a:t>
            </a:r>
            <a:r>
              <a:rPr lang="el-GR" dirty="0"/>
              <a:t>μετατρέπονται σε τιμές </a:t>
            </a:r>
            <a:r>
              <a:rPr lang="en-US" dirty="0"/>
              <a:t>ASCII </a:t>
            </a:r>
            <a:r>
              <a:rPr lang="el-GR" dirty="0"/>
              <a:t>προσθέτοντας την τιμή 48 που είναι η τιμή του χαρακτήρα ‘0’ στο σύστημα </a:t>
            </a:r>
            <a:r>
              <a:rPr lang="en-US" dirty="0"/>
              <a:t>ASCII. </a:t>
            </a:r>
            <a:r>
              <a:rPr lang="el-GR" dirty="0"/>
              <a:t>Μόλις αυτές οι τιμές είναι έτοιμες ένα σήμα </a:t>
            </a:r>
            <a:r>
              <a:rPr lang="en-US" dirty="0"/>
              <a:t>ready </a:t>
            </a:r>
            <a:r>
              <a:rPr lang="el-GR" dirty="0"/>
              <a:t>σηκώνεται ώστε να ξεκινήσει η μετάδοση των χαρακτήρων απο το</a:t>
            </a:r>
            <a:r>
              <a:rPr lang="en-US" dirty="0"/>
              <a:t> </a:t>
            </a:r>
            <a:r>
              <a:rPr lang="en-US" dirty="0" err="1"/>
              <a:t>uart_transmitter</a:t>
            </a:r>
            <a:r>
              <a:rPr lang="en-US" dirty="0"/>
              <a:t> module</a:t>
            </a:r>
            <a:r>
              <a:rPr lang="el-GR" dirty="0"/>
              <a:t>.</a:t>
            </a:r>
            <a:endParaRPr lang="en-US" dirty="0"/>
          </a:p>
        </p:txBody>
      </p:sp>
    </p:spTree>
    <p:extLst>
      <p:ext uri="{BB962C8B-B14F-4D97-AF65-F5344CB8AC3E}">
        <p14:creationId xmlns:p14="http://schemas.microsoft.com/office/powerpoint/2010/main" val="1427464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D41A9-DFEE-9E74-96E9-D890AEE9D2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3E4296-030D-1643-4D01-48FA77B1F8F5}"/>
              </a:ext>
            </a:extLst>
          </p:cNvPr>
          <p:cNvSpPr>
            <a:spLocks noGrp="1"/>
          </p:cNvSpPr>
          <p:nvPr>
            <p:ph type="title"/>
          </p:nvPr>
        </p:nvSpPr>
        <p:spPr/>
        <p:txBody>
          <a:bodyPr/>
          <a:lstStyle/>
          <a:p>
            <a:r>
              <a:rPr lang="el-GR" dirty="0"/>
              <a:t>Μέρος Α – </a:t>
            </a:r>
            <a:r>
              <a:rPr lang="en-US" dirty="0"/>
              <a:t>FSM diagram</a:t>
            </a:r>
          </a:p>
        </p:txBody>
      </p:sp>
      <p:pic>
        <p:nvPicPr>
          <p:cNvPr id="3" name="Picture 2" descr="A black screen with white text&#10;&#10;Description automatically generated">
            <a:extLst>
              <a:ext uri="{FF2B5EF4-FFF2-40B4-BE49-F238E27FC236}">
                <a16:creationId xmlns:a16="http://schemas.microsoft.com/office/drawing/2014/main" id="{A3AB8A18-469A-893B-4988-F64C05C1F7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690688"/>
            <a:ext cx="5652501" cy="5075061"/>
          </a:xfrm>
          <a:prstGeom prst="rect">
            <a:avLst/>
          </a:prstGeom>
        </p:spPr>
      </p:pic>
      <p:sp>
        <p:nvSpPr>
          <p:cNvPr id="6" name="TextBox 5">
            <a:extLst>
              <a:ext uri="{FF2B5EF4-FFF2-40B4-BE49-F238E27FC236}">
                <a16:creationId xmlns:a16="http://schemas.microsoft.com/office/drawing/2014/main" id="{7C6AF3C3-E56E-3590-A96D-E20C9EE0640B}"/>
              </a:ext>
            </a:extLst>
          </p:cNvPr>
          <p:cNvSpPr txBox="1"/>
          <p:nvPr/>
        </p:nvSpPr>
        <p:spPr>
          <a:xfrm>
            <a:off x="7049069" y="1690688"/>
            <a:ext cx="4304731" cy="5078313"/>
          </a:xfrm>
          <a:prstGeom prst="rect">
            <a:avLst/>
          </a:prstGeom>
          <a:noFill/>
        </p:spPr>
        <p:txBody>
          <a:bodyPr wrap="square" rtlCol="0">
            <a:spAutoFit/>
          </a:bodyPr>
          <a:lstStyle/>
          <a:p>
            <a:r>
              <a:rPr lang="el-GR" dirty="0"/>
              <a:t>Για την </a:t>
            </a:r>
            <a:r>
              <a:rPr lang="en-US" dirty="0"/>
              <a:t>FSM </a:t>
            </a:r>
            <a:r>
              <a:rPr lang="el-GR" dirty="0"/>
              <a:t>χρησιμοποιήθηκαν 6 </a:t>
            </a:r>
            <a:r>
              <a:rPr lang="en-US" dirty="0"/>
              <a:t>states. </a:t>
            </a:r>
            <a:r>
              <a:rPr lang="el-GR" dirty="0"/>
              <a:t>Αρχικά το </a:t>
            </a:r>
            <a:r>
              <a:rPr lang="en-US" dirty="0"/>
              <a:t>IDLE state </a:t>
            </a:r>
            <a:r>
              <a:rPr lang="el-GR" dirty="0"/>
              <a:t>στο οποίο</a:t>
            </a:r>
            <a:r>
              <a:rPr lang="en-US" dirty="0"/>
              <a:t> h FSM </a:t>
            </a:r>
            <a:r>
              <a:rPr lang="el-GR" dirty="0"/>
              <a:t>περιμένει το σήμα </a:t>
            </a:r>
            <a:r>
              <a:rPr lang="en-US" dirty="0"/>
              <a:t>start </a:t>
            </a:r>
            <a:r>
              <a:rPr lang="el-GR" dirty="0"/>
              <a:t>να γίνει 1 για να ξεκινήσει μια μετατροπή. </a:t>
            </a:r>
          </a:p>
          <a:p>
            <a:r>
              <a:rPr lang="el-GR" dirty="0"/>
              <a:t>Έπειτα πηγαίνει στο</a:t>
            </a:r>
            <a:r>
              <a:rPr lang="en-US" dirty="0"/>
              <a:t> WAIT_FOR_NEW state </a:t>
            </a:r>
            <a:r>
              <a:rPr lang="el-GR" dirty="0"/>
              <a:t>στο οποίο παραμένει μέχρι να έχουν περάσει 5 κύκλοι από την ολοκλήρωσει της τελευταίας μετατροπής ώστε να είναι σίγουρο ότι ο </a:t>
            </a:r>
            <a:r>
              <a:rPr lang="en-US" dirty="0" err="1"/>
              <a:t>uart_transmitter</a:t>
            </a:r>
            <a:r>
              <a:rPr lang="en-US" dirty="0"/>
              <a:t> </a:t>
            </a:r>
            <a:r>
              <a:rPr lang="el-GR" dirty="0"/>
              <a:t>έχει διαβάσει σωστά τις προηγούμενες τιμές. Για έναν κύκλο παραμένει στο </a:t>
            </a:r>
            <a:r>
              <a:rPr lang="en-US" dirty="0"/>
              <a:t>state COPY </a:t>
            </a:r>
            <a:r>
              <a:rPr lang="el-GR" dirty="0"/>
              <a:t>όπου αντιγράφονται οι τιμή του καινούριου </a:t>
            </a:r>
            <a:r>
              <a:rPr lang="en-US" dirty="0"/>
              <a:t>binary </a:t>
            </a:r>
            <a:r>
              <a:rPr lang="el-GR" dirty="0"/>
              <a:t>και γινονται </a:t>
            </a:r>
            <a:r>
              <a:rPr lang="en-US" dirty="0"/>
              <a:t>reset </a:t>
            </a:r>
            <a:r>
              <a:rPr lang="el-GR" dirty="0"/>
              <a:t>οι </a:t>
            </a:r>
            <a:r>
              <a:rPr lang="en-US" dirty="0"/>
              <a:t>BCD registers. </a:t>
            </a:r>
            <a:r>
              <a:rPr lang="el-GR" dirty="0"/>
              <a:t>Έπειτα εναλλάξ για </a:t>
            </a:r>
            <a:r>
              <a:rPr lang="en-US" dirty="0"/>
              <a:t>n-1 </a:t>
            </a:r>
            <a:r>
              <a:rPr lang="el-GR" dirty="0"/>
              <a:t>φορές, όπου </a:t>
            </a:r>
            <a:r>
              <a:rPr lang="en-US" dirty="0"/>
              <a:t>n </a:t>
            </a:r>
            <a:r>
              <a:rPr lang="el-GR" dirty="0"/>
              <a:t>τα </a:t>
            </a:r>
            <a:r>
              <a:rPr lang="en-US" dirty="0"/>
              <a:t>bits </a:t>
            </a:r>
            <a:r>
              <a:rPr lang="el-GR" dirty="0"/>
              <a:t>του αρχικού </a:t>
            </a:r>
            <a:r>
              <a:rPr lang="en-US" dirty="0"/>
              <a:t>binary </a:t>
            </a:r>
            <a:r>
              <a:rPr lang="el-GR" dirty="0"/>
              <a:t>αλλάζει μεταξύ των </a:t>
            </a:r>
            <a:r>
              <a:rPr lang="en-US" dirty="0"/>
              <a:t>states SHIFT </a:t>
            </a:r>
            <a:r>
              <a:rPr lang="el-GR" dirty="0"/>
              <a:t>και </a:t>
            </a:r>
            <a:r>
              <a:rPr lang="en-US" dirty="0"/>
              <a:t>ADD. </a:t>
            </a:r>
            <a:r>
              <a:rPr lang="el-GR" dirty="0"/>
              <a:t>Τέλος, πηγαίνει για έναν κύκλο στο </a:t>
            </a:r>
            <a:r>
              <a:rPr lang="en-US" dirty="0"/>
              <a:t>READY state.</a:t>
            </a:r>
          </a:p>
        </p:txBody>
      </p:sp>
    </p:spTree>
    <p:extLst>
      <p:ext uri="{BB962C8B-B14F-4D97-AF65-F5344CB8AC3E}">
        <p14:creationId xmlns:p14="http://schemas.microsoft.com/office/powerpoint/2010/main" val="15889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4BCF3-DE19-F132-B2E4-724FDE0F32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74D9DE-1128-68FF-671E-F98DA44504EB}"/>
              </a:ext>
            </a:extLst>
          </p:cNvPr>
          <p:cNvSpPr>
            <a:spLocks noGrp="1"/>
          </p:cNvSpPr>
          <p:nvPr>
            <p:ph type="title"/>
          </p:nvPr>
        </p:nvSpPr>
        <p:spPr/>
        <p:txBody>
          <a:bodyPr/>
          <a:lstStyle/>
          <a:p>
            <a:r>
              <a:rPr lang="el-GR" dirty="0"/>
              <a:t>Μέρος Α – </a:t>
            </a:r>
            <a:r>
              <a:rPr lang="en-US" dirty="0"/>
              <a:t>Simulation</a:t>
            </a:r>
            <a:r>
              <a:rPr lang="el-GR" dirty="0"/>
              <a:t> και προβλήματα</a:t>
            </a:r>
            <a:endParaRPr lang="en-US" dirty="0"/>
          </a:p>
        </p:txBody>
      </p:sp>
      <p:sp>
        <p:nvSpPr>
          <p:cNvPr id="2" name="TextBox 1">
            <a:extLst>
              <a:ext uri="{FF2B5EF4-FFF2-40B4-BE49-F238E27FC236}">
                <a16:creationId xmlns:a16="http://schemas.microsoft.com/office/drawing/2014/main" id="{F1B0437B-A35F-12E2-8B23-215D3CB36F36}"/>
              </a:ext>
            </a:extLst>
          </p:cNvPr>
          <p:cNvSpPr txBox="1"/>
          <p:nvPr/>
        </p:nvSpPr>
        <p:spPr>
          <a:xfrm>
            <a:off x="484496" y="1842448"/>
            <a:ext cx="10869304" cy="2585323"/>
          </a:xfrm>
          <a:prstGeom prst="rect">
            <a:avLst/>
          </a:prstGeom>
          <a:noFill/>
        </p:spPr>
        <p:txBody>
          <a:bodyPr wrap="square" rtlCol="0">
            <a:spAutoFit/>
          </a:bodyPr>
          <a:lstStyle/>
          <a:p>
            <a:r>
              <a:rPr lang="el-GR" dirty="0"/>
              <a:t>Για την προσομοίωση χρησιμοποιήθηκε ένα </a:t>
            </a:r>
            <a:r>
              <a:rPr lang="en-US" dirty="0"/>
              <a:t>testbench</a:t>
            </a:r>
            <a:r>
              <a:rPr lang="el-GR" dirty="0"/>
              <a:t> το οποίο δίνει τιμές στον </a:t>
            </a:r>
            <a:r>
              <a:rPr lang="en-US" dirty="0"/>
              <a:t>converter </a:t>
            </a:r>
            <a:r>
              <a:rPr lang="el-GR" dirty="0"/>
              <a:t>και ελέγχει το σήμα </a:t>
            </a:r>
            <a:r>
              <a:rPr lang="en-US" dirty="0"/>
              <a:t>start </a:t>
            </a:r>
            <a:r>
              <a:rPr lang="el-GR" dirty="0"/>
              <a:t>που έχει ως </a:t>
            </a:r>
            <a:r>
              <a:rPr lang="en-US" dirty="0"/>
              <a:t>input o converter. </a:t>
            </a:r>
            <a:r>
              <a:rPr lang="el-GR" dirty="0"/>
              <a:t>Έτσι δοκιμάστηκαν πολλές διαφορετικές τιμές και εντοπίστηκαν 2 προβλήματα με το αρχικό </a:t>
            </a:r>
            <a:r>
              <a:rPr lang="en-US" dirty="0"/>
              <a:t>design. </a:t>
            </a:r>
            <a:endParaRPr lang="el-GR" dirty="0"/>
          </a:p>
          <a:p>
            <a:r>
              <a:rPr lang="el-GR" dirty="0"/>
              <a:t>Το πρώτο αφορά τις διαδοχικές μετατροπές αριθμών σε </a:t>
            </a:r>
            <a:r>
              <a:rPr lang="en-US" dirty="0"/>
              <a:t>BCD</a:t>
            </a:r>
            <a:r>
              <a:rPr lang="el-GR" dirty="0"/>
              <a:t> και παρατηρήθηκε πως τα </a:t>
            </a:r>
            <a:r>
              <a:rPr lang="en-US" dirty="0"/>
              <a:t>BCD</a:t>
            </a:r>
            <a:r>
              <a:rPr lang="el-GR" dirty="0"/>
              <a:t> </a:t>
            </a:r>
            <a:r>
              <a:rPr lang="en-US" dirty="0"/>
              <a:t>registers </a:t>
            </a:r>
            <a:r>
              <a:rPr lang="el-GR" dirty="0"/>
              <a:t>δεν γίνονταν 0 για κάθε καινούρια μετατροπή με αποτέλεσμα οι επόμενες μετατροπές να μην βγάζουν σωστό αποτέλεσμα</a:t>
            </a:r>
            <a:r>
              <a:rPr lang="en-US" dirty="0"/>
              <a:t>. </a:t>
            </a:r>
            <a:endParaRPr lang="el-GR" dirty="0"/>
          </a:p>
          <a:p>
            <a:r>
              <a:rPr lang="el-GR" dirty="0"/>
              <a:t>Το δεύτερο αφορούσε της μεταβάσεις τις </a:t>
            </a:r>
            <a:r>
              <a:rPr lang="en-US" dirty="0"/>
              <a:t>FSM </a:t>
            </a:r>
            <a:r>
              <a:rPr lang="el-GR" dirty="0"/>
              <a:t>και ήταν ένα </a:t>
            </a:r>
            <a:r>
              <a:rPr lang="en-US" dirty="0"/>
              <a:t>off-by-one error </a:t>
            </a:r>
            <a:r>
              <a:rPr lang="el-GR" dirty="0"/>
              <a:t>γιατί το </a:t>
            </a:r>
            <a:r>
              <a:rPr lang="en-US" dirty="0"/>
              <a:t>ADD state </a:t>
            </a:r>
            <a:r>
              <a:rPr lang="el-GR" dirty="0"/>
              <a:t>πραγματοποιούνταν </a:t>
            </a:r>
            <a:r>
              <a:rPr lang="en-US" dirty="0"/>
              <a:t>n+1 </a:t>
            </a:r>
            <a:r>
              <a:rPr lang="el-GR" dirty="0"/>
              <a:t>φορές με αποτέλεσμα να στα τελικά ψηφία που είναι μεγαλύτερα του 4, να προστίθεται μια παραπάνω φορά το 3.</a:t>
            </a:r>
            <a:endParaRPr lang="en-US" dirty="0"/>
          </a:p>
        </p:txBody>
      </p:sp>
    </p:spTree>
    <p:extLst>
      <p:ext uri="{BB962C8B-B14F-4D97-AF65-F5344CB8AC3E}">
        <p14:creationId xmlns:p14="http://schemas.microsoft.com/office/powerpoint/2010/main" val="3357940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B2E81-07E8-1711-519B-3F36D7952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BA75C-555E-F9AD-9A77-A73F5F8F4A17}"/>
              </a:ext>
            </a:extLst>
          </p:cNvPr>
          <p:cNvSpPr>
            <a:spLocks noGrp="1"/>
          </p:cNvSpPr>
          <p:nvPr>
            <p:ph type="title"/>
          </p:nvPr>
        </p:nvSpPr>
        <p:spPr>
          <a:xfrm>
            <a:off x="838200" y="2766218"/>
            <a:ext cx="10515600" cy="1325563"/>
          </a:xfrm>
        </p:spPr>
        <p:txBody>
          <a:bodyPr/>
          <a:lstStyle/>
          <a:p>
            <a:pPr algn="ctr"/>
            <a:r>
              <a:rPr lang="el-GR" dirty="0"/>
              <a:t>Μέρος </a:t>
            </a:r>
            <a:r>
              <a:rPr lang="en-US" dirty="0"/>
              <a:t>B</a:t>
            </a:r>
            <a:r>
              <a:rPr lang="el-GR" dirty="0"/>
              <a:t> –</a:t>
            </a:r>
            <a:r>
              <a:rPr lang="en-US" dirty="0"/>
              <a:t> SPI Master</a:t>
            </a:r>
          </a:p>
        </p:txBody>
      </p:sp>
    </p:spTree>
    <p:extLst>
      <p:ext uri="{BB962C8B-B14F-4D97-AF65-F5344CB8AC3E}">
        <p14:creationId xmlns:p14="http://schemas.microsoft.com/office/powerpoint/2010/main" val="1410387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6237C-34E4-4885-251A-5A907E86C1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975E52-D730-4478-33AC-847D63F1B1E0}"/>
              </a:ext>
            </a:extLst>
          </p:cNvPr>
          <p:cNvSpPr>
            <a:spLocks noGrp="1"/>
          </p:cNvSpPr>
          <p:nvPr>
            <p:ph type="title"/>
          </p:nvPr>
        </p:nvSpPr>
        <p:spPr/>
        <p:txBody>
          <a:bodyPr/>
          <a:lstStyle/>
          <a:p>
            <a:r>
              <a:rPr lang="el-GR" dirty="0"/>
              <a:t>Μέρος Β – Περιγραφή</a:t>
            </a:r>
            <a:endParaRPr lang="en-US" dirty="0"/>
          </a:p>
        </p:txBody>
      </p:sp>
      <p:sp>
        <p:nvSpPr>
          <p:cNvPr id="2" name="TextBox 1">
            <a:extLst>
              <a:ext uri="{FF2B5EF4-FFF2-40B4-BE49-F238E27FC236}">
                <a16:creationId xmlns:a16="http://schemas.microsoft.com/office/drawing/2014/main" id="{F97A722F-E398-73F8-D622-B0D24455346D}"/>
              </a:ext>
            </a:extLst>
          </p:cNvPr>
          <p:cNvSpPr txBox="1"/>
          <p:nvPr/>
        </p:nvSpPr>
        <p:spPr>
          <a:xfrm>
            <a:off x="484496" y="1842448"/>
            <a:ext cx="10869304" cy="2308324"/>
          </a:xfrm>
          <a:prstGeom prst="rect">
            <a:avLst/>
          </a:prstGeom>
          <a:noFill/>
        </p:spPr>
        <p:txBody>
          <a:bodyPr wrap="square" rtlCol="0">
            <a:spAutoFit/>
          </a:bodyPr>
          <a:lstStyle/>
          <a:p>
            <a:r>
              <a:rPr lang="el-GR" dirty="0"/>
              <a:t>Για την δημιουργία του ρολογιού </a:t>
            </a:r>
            <a:r>
              <a:rPr lang="en-US" dirty="0" err="1"/>
              <a:t>sclk</a:t>
            </a:r>
            <a:r>
              <a:rPr lang="el-GR" dirty="0"/>
              <a:t> που απαιτείται για την επικοινωνία, χρησιμοποιήθηκε το </a:t>
            </a:r>
            <a:r>
              <a:rPr lang="en-US" dirty="0"/>
              <a:t>MMCM module </a:t>
            </a:r>
            <a:r>
              <a:rPr lang="el-GR" dirty="0"/>
              <a:t>που υπάρχει στην πλακέτα και με τις κατάλληλες ρυθμίσεις δημιουργήθηκε ένα ρολόι </a:t>
            </a:r>
            <a:r>
              <a:rPr lang="en-US" dirty="0"/>
              <a:t>5MHz</a:t>
            </a:r>
            <a:r>
              <a:rPr lang="el-GR" dirty="0"/>
              <a:t>. Επιπλέον χρησιμοποιήθηκε ένας μετρητής που λειτουργεί με το γρήγορο ρολόι της πλακέτας</a:t>
            </a:r>
            <a:r>
              <a:rPr lang="en-US" dirty="0"/>
              <a:t> </a:t>
            </a:r>
            <a:r>
              <a:rPr lang="el-GR" dirty="0"/>
              <a:t>και ξεκινάει όταν το αργό ρολόι είναι σταθερό. Αυτός ειναι που μας δίνει την δυνατότητα να ξέρουμε που βρίσκεται το αργό ρολόι ώστε να μπορούμε να συχγρονίσουμε τα σήματα του προτοκόλλου σωστά.</a:t>
            </a:r>
            <a:r>
              <a:rPr lang="en-US" dirty="0"/>
              <a:t> </a:t>
            </a:r>
            <a:r>
              <a:rPr lang="el-GR" dirty="0"/>
              <a:t>Για τον συντονισμό αυτών των σημάτων χρησιμοποιήθηκε μια </a:t>
            </a:r>
            <a:r>
              <a:rPr lang="en-US" dirty="0"/>
              <a:t>FSM </a:t>
            </a:r>
            <a:r>
              <a:rPr lang="el-GR" dirty="0"/>
              <a:t>η οποία συντονίζει πότε ξεκινάει μια νέα αποστολή/λήψη, πότε γίνεται η ανάγνωση του σήματος </a:t>
            </a:r>
            <a:r>
              <a:rPr lang="en-US" dirty="0"/>
              <a:t>MISO,</a:t>
            </a:r>
            <a:r>
              <a:rPr lang="el-GR" dirty="0"/>
              <a:t> πότε ανανεώνεται η τιμή του σήματος </a:t>
            </a:r>
            <a:r>
              <a:rPr lang="en-US" dirty="0"/>
              <a:t>MOSI </a:t>
            </a:r>
            <a:r>
              <a:rPr lang="el-GR" dirty="0"/>
              <a:t>και σύμφωνα με ένα σήμα εισόδου καθορίζει πότε πρέπει να τελειώσει η επικοινωνία.</a:t>
            </a:r>
            <a:endParaRPr lang="en-US" dirty="0"/>
          </a:p>
        </p:txBody>
      </p:sp>
    </p:spTree>
    <p:extLst>
      <p:ext uri="{BB962C8B-B14F-4D97-AF65-F5344CB8AC3E}">
        <p14:creationId xmlns:p14="http://schemas.microsoft.com/office/powerpoint/2010/main" val="2208877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EFF1B-FFD1-BCA4-A53D-009A809E30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0BC2243-61BE-A60C-833D-895DC6E5570F}"/>
              </a:ext>
            </a:extLst>
          </p:cNvPr>
          <p:cNvSpPr>
            <a:spLocks noGrp="1"/>
          </p:cNvSpPr>
          <p:nvPr>
            <p:ph type="title"/>
          </p:nvPr>
        </p:nvSpPr>
        <p:spPr/>
        <p:txBody>
          <a:bodyPr/>
          <a:lstStyle/>
          <a:p>
            <a:r>
              <a:rPr lang="el-GR" dirty="0"/>
              <a:t>Μέρος Β – </a:t>
            </a:r>
            <a:r>
              <a:rPr lang="en-US" dirty="0"/>
              <a:t>FSM diagram</a:t>
            </a:r>
          </a:p>
        </p:txBody>
      </p:sp>
      <p:pic>
        <p:nvPicPr>
          <p:cNvPr id="5" name="Picture 4" descr="A computer screen shot of a diagram&#10;&#10;Description automatically generated">
            <a:extLst>
              <a:ext uri="{FF2B5EF4-FFF2-40B4-BE49-F238E27FC236}">
                <a16:creationId xmlns:a16="http://schemas.microsoft.com/office/drawing/2014/main" id="{5404D252-CB2E-8513-4D7C-9705B2AB4D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1" y="1685458"/>
            <a:ext cx="4402042" cy="4807418"/>
          </a:xfrm>
          <a:prstGeom prst="rect">
            <a:avLst/>
          </a:prstGeom>
        </p:spPr>
      </p:pic>
      <p:sp>
        <p:nvSpPr>
          <p:cNvPr id="6" name="TextBox 5">
            <a:extLst>
              <a:ext uri="{FF2B5EF4-FFF2-40B4-BE49-F238E27FC236}">
                <a16:creationId xmlns:a16="http://schemas.microsoft.com/office/drawing/2014/main" id="{6C8AA5AF-D445-A745-D5E0-492DEC122451}"/>
              </a:ext>
            </a:extLst>
          </p:cNvPr>
          <p:cNvSpPr txBox="1"/>
          <p:nvPr/>
        </p:nvSpPr>
        <p:spPr>
          <a:xfrm>
            <a:off x="6096000" y="1685458"/>
            <a:ext cx="5257799"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958053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99E45-8ECE-F32C-0015-6D259C0B4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543E3-016A-2968-CE23-A6F8BC7B1145}"/>
              </a:ext>
            </a:extLst>
          </p:cNvPr>
          <p:cNvSpPr>
            <a:spLocks noGrp="1"/>
          </p:cNvSpPr>
          <p:nvPr>
            <p:ph type="title"/>
          </p:nvPr>
        </p:nvSpPr>
        <p:spPr>
          <a:xfrm>
            <a:off x="838200" y="2766218"/>
            <a:ext cx="10515600" cy="1325563"/>
          </a:xfrm>
        </p:spPr>
        <p:txBody>
          <a:bodyPr/>
          <a:lstStyle/>
          <a:p>
            <a:pPr algn="ctr"/>
            <a:r>
              <a:rPr lang="el-GR" dirty="0"/>
              <a:t>Μέρος Γ – </a:t>
            </a:r>
            <a:r>
              <a:rPr lang="en-US" dirty="0"/>
              <a:t>ADXL362 Controller</a:t>
            </a:r>
          </a:p>
        </p:txBody>
      </p:sp>
    </p:spTree>
    <p:extLst>
      <p:ext uri="{BB962C8B-B14F-4D97-AF65-F5344CB8AC3E}">
        <p14:creationId xmlns:p14="http://schemas.microsoft.com/office/powerpoint/2010/main" val="335529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F0F77-174C-00FB-CC15-D09FDC880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D26D5-C3C7-51B4-5B57-0C7568D534D0}"/>
              </a:ext>
            </a:extLst>
          </p:cNvPr>
          <p:cNvSpPr>
            <a:spLocks noGrp="1"/>
          </p:cNvSpPr>
          <p:nvPr>
            <p:ph type="title"/>
          </p:nvPr>
        </p:nvSpPr>
        <p:spPr>
          <a:xfrm>
            <a:off x="838200" y="2766218"/>
            <a:ext cx="10515600" cy="1325563"/>
          </a:xfrm>
        </p:spPr>
        <p:txBody>
          <a:bodyPr/>
          <a:lstStyle/>
          <a:p>
            <a:pPr algn="ctr"/>
            <a:r>
              <a:rPr lang="el-GR" dirty="0"/>
              <a:t>Τελικό αποτέλεσμα</a:t>
            </a:r>
            <a:endParaRPr lang="en-US" dirty="0"/>
          </a:p>
        </p:txBody>
      </p:sp>
    </p:spTree>
    <p:extLst>
      <p:ext uri="{BB962C8B-B14F-4D97-AF65-F5344CB8AC3E}">
        <p14:creationId xmlns:p14="http://schemas.microsoft.com/office/powerpoint/2010/main" val="41868891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662</TotalTime>
  <Words>535</Words>
  <Application>Microsoft Office PowerPoint</Application>
  <PresentationFormat>Widescreen</PresentationFormat>
  <Paragraphs>20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ECE333: Εργαστήριο Ψηφιακών Συστημάτων  Lab 4 – ADXL362 Accelerometer Driver</vt:lpstr>
      <vt:lpstr>Μέρος Α – Binary to ASCII converter</vt:lpstr>
      <vt:lpstr>Μέρος Α – Περιγραφή</vt:lpstr>
      <vt:lpstr>Μέρος Α – FSM diagram</vt:lpstr>
      <vt:lpstr>Μέρος Α – Simulation και προβλήματα</vt:lpstr>
      <vt:lpstr>Μέρος B – SPI Master</vt:lpstr>
      <vt:lpstr>Μέρος Β – Περιγραφή</vt:lpstr>
      <vt:lpstr>Μέρος Β – FSM diagram</vt:lpstr>
      <vt:lpstr>Μέρος Γ – ADXL362 Controller</vt:lpstr>
      <vt:lpstr>Τελικό αποτέλεσμα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Nikas</dc:creator>
  <cp:lastModifiedBy>Jason Nikas</cp:lastModifiedBy>
  <cp:revision>4</cp:revision>
  <dcterms:created xsi:type="dcterms:W3CDTF">2025-01-21T12:41:38Z</dcterms:created>
  <dcterms:modified xsi:type="dcterms:W3CDTF">2025-01-21T23:44:21Z</dcterms:modified>
</cp:coreProperties>
</file>